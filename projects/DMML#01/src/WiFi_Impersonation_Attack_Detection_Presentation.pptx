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-9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mtClean="0"/>
              <a:t/>
            </a:r>
            <a:br>
              <a:rPr lang="en-IN" smtClean="0"/>
            </a:br>
            <a:r>
              <a:rPr smtClean="0"/>
              <a:t>Machine </a:t>
            </a:r>
            <a:r>
              <a:t>Learning Based Detection of Wi-Fi Impersonation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mtClean="0"/>
          </a:p>
          <a:p>
            <a:pPr marL="114300" indent="0">
              <a:buNone/>
            </a:pPr>
            <a:endParaRPr lang="en-IN" smtClean="0"/>
          </a:p>
          <a:p>
            <a:pPr marL="114300" indent="0">
              <a:buNone/>
            </a:pPr>
            <a:r>
              <a:rPr smtClean="0"/>
              <a:t>Using </a:t>
            </a:r>
            <a:r>
              <a:t>AWID2 Wireless Intrusion Detection Dataset</a:t>
            </a:r>
          </a:p>
          <a:p>
            <a:endParaRPr lang="en-IN" smtClean="0"/>
          </a:p>
          <a:p>
            <a:endParaRPr lang="en-IN"/>
          </a:p>
          <a:p>
            <a:r>
              <a:rPr smtClean="0"/>
              <a:t>Course</a:t>
            </a:r>
            <a:r>
              <a:rPr/>
              <a:t>: </a:t>
            </a:r>
            <a:r>
              <a:rPr lang="en-IN" smtClean="0"/>
              <a:t>M.Tech </a:t>
            </a:r>
            <a:r>
              <a:rPr smtClean="0"/>
              <a:t>Cyber Security</a:t>
            </a:r>
            <a:endParaRPr lang="en-IN" smtClean="0"/>
          </a:p>
          <a:p>
            <a:r>
              <a:rPr lang="en-IN" smtClean="0"/>
              <a:t>Subject: DMML</a:t>
            </a:r>
            <a:endParaRPr/>
          </a:p>
          <a:p>
            <a:r>
              <a:rPr/>
              <a:t>Student </a:t>
            </a:r>
            <a:r>
              <a:rPr smtClean="0"/>
              <a:t>Name</a:t>
            </a:r>
            <a:r>
              <a:rPr lang="en-IN" smtClean="0"/>
              <a:t> – Pratham Gupta , Kushagra Ojha</a:t>
            </a:r>
            <a:endParaRPr/>
          </a:p>
          <a:p>
            <a:r>
              <a:rPr smtClean="0"/>
              <a:t>Institution</a:t>
            </a:r>
            <a:r>
              <a:rPr lang="en-IN" smtClean="0"/>
              <a:t> – Amrita Vishwa Vidhyapeetham,Coimbatore</a:t>
            </a:r>
            <a:endParaRPr/>
          </a:p>
          <a:p>
            <a:r>
              <a:rPr smtClean="0"/>
              <a:t>Date</a:t>
            </a:r>
            <a:r>
              <a:rPr lang="en-IN" smtClean="0"/>
              <a:t>- 12/03/2026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Wireless networks are widely used but vulnerable to cyber attacks.</a:t>
            </a:r>
          </a:p>
          <a:p>
            <a:r>
              <a:t>Evil Twin attacks create fake access points that mimic legitimate networks.</a:t>
            </a:r>
          </a:p>
          <a:p>
            <a:r>
              <a:t>Consequences include credential theft, traffic interception, and man-in-the-middle attacks.</a:t>
            </a:r>
          </a:p>
          <a:p>
            <a:r>
              <a:t>Machine learning can detect malicious traffic patterns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impersonation attacks is difficult because: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Wi-Fi traffic has complex features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Attack traffic resembles normal traffic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Manual monitoring is inefficient</a:t>
            </a:r>
          </a:p>
          <a:p>
            <a:r>
              <a:t>Goal: Build an ML system to classify traffic as Normal or Attack.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t>• Analyze wireless network traffic</a:t>
            </a:r>
          </a:p>
          <a:p>
            <a:pPr marL="114300" indent="0">
              <a:buNone/>
            </a:pPr>
            <a:r>
              <a:t>• Generate additional features using deep learning</a:t>
            </a:r>
          </a:p>
          <a:p>
            <a:pPr marL="114300" indent="0">
              <a:buNone/>
            </a:pPr>
            <a:r>
              <a:t>• Select informative features</a:t>
            </a:r>
          </a:p>
          <a:p>
            <a:pPr marL="114300" indent="0">
              <a:buNone/>
            </a:pPr>
            <a:r>
              <a:t>• Train ML classifiers</a:t>
            </a:r>
          </a:p>
          <a:p>
            <a:pPr marL="114300" indent="0">
              <a:buNone/>
            </a:pPr>
            <a:r>
              <a:t>• Apply hyperparameter tuning</a:t>
            </a:r>
          </a:p>
          <a:p>
            <a:pPr marL="114300" indent="0">
              <a:buNone/>
            </a:pPr>
            <a:r>
              <a:t>• Evaluate model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Used: AWID2 (Aegean Wi‑Fi Intrusion Detection Dataset)</a:t>
            </a:r>
          </a:p>
          <a:p>
            <a:r>
              <a:t>Contains real wireless network traffic, normal packets, and attack types.</a:t>
            </a:r>
          </a:p>
          <a:p>
            <a:r>
              <a:t>This project focuses on the impersonation attack subset.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151 network traffic features such as: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Frame interface ID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Packet timing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Wireless frame type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Source address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Protocol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Dataset </a:t>
            </a:r>
            <a:endParaRPr lang="en-IN" smtClean="0"/>
          </a:p>
          <a:p>
            <a:pPr marL="114300" indent="0">
              <a:buNone/>
            </a:pPr>
            <a:r>
              <a:rPr smtClean="0"/>
              <a:t>→Data </a:t>
            </a:r>
            <a:r>
              <a:rPr/>
              <a:t>Preprocessing </a:t>
            </a:r>
            <a:endParaRPr lang="en-IN" smtClean="0"/>
          </a:p>
          <a:p>
            <a:pPr marL="114300" indent="0">
              <a:buNone/>
            </a:pPr>
            <a:r>
              <a:rPr smtClean="0"/>
              <a:t>→ </a:t>
            </a:r>
            <a:r>
              <a:t>Feature Generation (</a:t>
            </a:r>
            <a:r>
              <a:rPr/>
              <a:t>VAE</a:t>
            </a:r>
            <a:r>
              <a:rPr smtClean="0"/>
              <a:t>)</a:t>
            </a:r>
            <a:endParaRPr/>
          </a:p>
          <a:p>
            <a:pPr marL="114300" indent="0">
              <a:buNone/>
            </a:pPr>
            <a:r>
              <a:t>→ </a:t>
            </a:r>
            <a:r>
              <a:rPr/>
              <a:t>Feature </a:t>
            </a:r>
            <a:r>
              <a:rPr smtClean="0"/>
              <a:t>Selection </a:t>
            </a:r>
            <a:endParaRPr lang="en-IN" smtClean="0"/>
          </a:p>
          <a:p>
            <a:pPr marL="114300" indent="0">
              <a:buNone/>
            </a:pPr>
            <a:r>
              <a:rPr smtClean="0"/>
              <a:t>→ </a:t>
            </a:r>
            <a:r>
              <a:t>Model Training</a:t>
            </a:r>
          </a:p>
          <a:p>
            <a:pPr marL="114300" indent="0">
              <a:buNone/>
            </a:pPr>
            <a:r>
              <a:t>→ Hyperparameter </a:t>
            </a:r>
            <a:r>
              <a:rPr/>
              <a:t>Tuning </a:t>
            </a:r>
            <a:endParaRPr lang="en-IN" smtClean="0"/>
          </a:p>
          <a:p>
            <a:pPr marL="114300" indent="0">
              <a:buNone/>
            </a:pPr>
            <a:r>
              <a:rPr smtClean="0"/>
              <a:t>→ </a:t>
            </a:r>
            <a:r>
              <a:rPr/>
              <a:t>Evaluation </a:t>
            </a:r>
            <a:endParaRPr lang="en-IN" smtClean="0"/>
          </a:p>
          <a:p>
            <a:pPr marL="114300" indent="0">
              <a:buNone/>
            </a:pPr>
            <a:r>
              <a:rPr smtClean="0"/>
              <a:t>→ </a:t>
            </a:r>
            <a:r>
              <a:t>Attack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 before model training:</a:t>
            </a:r>
          </a:p>
          <a:p>
            <a:r>
              <a:t>• Dataset cleaning</a:t>
            </a:r>
          </a:p>
          <a:p>
            <a:r>
              <a:t>• Handling missing values</a:t>
            </a:r>
          </a:p>
          <a:p>
            <a:r>
              <a:t>• Feature scaling</a:t>
            </a:r>
          </a:p>
          <a:p>
            <a:r>
              <a:t>MinMax Normalization applied to stabilize model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improve detection capability, additional features are generated using deep learning.</a:t>
            </a:r>
          </a:p>
          <a:p>
            <a:r>
              <a:t>Method used: Variational Autoencoder (VAE).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Variational Autoencoder (VAE)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Encoder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Latent space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Decoder</a:t>
            </a:r>
          </a:p>
          <a:p>
            <a:r>
              <a:t>The model learns compressed representations and reconstructs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features: 151</a:t>
            </a:r>
          </a:p>
          <a:p>
            <a:r>
              <a:t>Generated features: 20</a:t>
            </a:r>
          </a:p>
          <a:p>
            <a:r>
              <a:t>Final feature space: 171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too many features can introduce noise and overfitting.</a:t>
            </a:r>
          </a:p>
          <a:p>
            <a:r>
              <a:t>Feature selection identifies the most relevant attributes.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t>• Variance Threshold</a:t>
            </a:r>
          </a:p>
          <a:p>
            <a:pPr marL="114300" indent="0">
              <a:buNone/>
            </a:pPr>
            <a:r>
              <a:t>• Chi-Square Test</a:t>
            </a:r>
          </a:p>
          <a:p>
            <a:pPr marL="114300" indent="0">
              <a:buNone/>
            </a:pPr>
            <a:r>
              <a:t>• Mutual Information</a:t>
            </a:r>
          </a:p>
          <a:p>
            <a:r>
              <a:t>These methods identify features most related to attack detection.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171 features reduced to 15 most informative features.</a:t>
            </a:r>
          </a:p>
          <a:p>
            <a:r>
              <a:t>Benefits: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Reduced complexity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Faster training</a:t>
            </a:r>
          </a:p>
          <a:p>
            <a:pPr marL="114300" indent="0">
              <a:buNone/>
            </a:pPr>
            <a:r>
              <a:rPr lang="en-IN" smtClean="0"/>
              <a:t>   </a:t>
            </a:r>
            <a:r>
              <a:rPr smtClean="0"/>
              <a:t>• </a:t>
            </a:r>
            <a:r>
              <a:t>Improved generalization.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evaluated:</a:t>
            </a:r>
          </a:p>
          <a:p>
            <a:r>
              <a:t>• Random Forest</a:t>
            </a:r>
          </a:p>
          <a:p>
            <a:r>
              <a:t>• K-Nearest Neighbors (KNN)</a:t>
            </a:r>
          </a:p>
          <a:p>
            <a:r>
              <a:t>• Naive Bayes.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K-Fold Cross Validation used to ensure reliable performance.</a:t>
            </a:r>
          </a:p>
          <a:p>
            <a:r>
              <a:t>Dataset divided into K parts.</a:t>
            </a:r>
          </a:p>
          <a:p>
            <a:r>
              <a:t>Model trained on K-1 folds and tested on the remaining fold.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contain parameters that influence performance.</a:t>
            </a:r>
          </a:p>
          <a:p>
            <a:r>
              <a:t>Example: number of trees in Random Forest or neighbors in KNN.</a:t>
            </a:r>
          </a:p>
          <a:p>
            <a:r>
              <a:t>Tuning identifies optimal configurations.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Optimization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t>• Grid Search</a:t>
            </a:r>
          </a:p>
          <a:p>
            <a:pPr marL="114300" indent="0">
              <a:buNone/>
            </a:pPr>
            <a:r>
              <a:t>• Random Search</a:t>
            </a:r>
          </a:p>
          <a:p>
            <a:pPr marL="114300" indent="0">
              <a:buNone/>
            </a:pPr>
            <a:r>
              <a:t>• Cross-validation based optimization.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measured using: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Accuracy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Precision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Recall</a:t>
            </a:r>
          </a:p>
          <a:p>
            <a:pPr marL="114300" indent="0">
              <a:buNone/>
            </a:pPr>
            <a:r>
              <a:rPr lang="en-IN" smtClean="0"/>
              <a:t>    </a:t>
            </a:r>
            <a:r>
              <a:rPr smtClean="0"/>
              <a:t>• </a:t>
            </a:r>
            <a:r>
              <a:t>F1 Score.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 evaluates classification results using:</a:t>
            </a:r>
          </a:p>
          <a:p>
            <a:r>
              <a:t>True Positive, True Negative,</a:t>
            </a:r>
          </a:p>
          <a:p>
            <a:r>
              <a:t>False Positive, False Negative.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models compared:</a:t>
            </a:r>
          </a:p>
          <a:p>
            <a:r>
              <a:t>Random Forest, KNN, Naive Bayes.</a:t>
            </a:r>
          </a:p>
          <a:p>
            <a:r>
              <a:t>Both training and testing results evaluated.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Accuracy: 0.99899</a:t>
            </a:r>
          </a:p>
          <a:p>
            <a:r>
              <a:t>Testing Accuracy: 0.99899</a:t>
            </a:r>
          </a:p>
          <a:p>
            <a:r>
              <a:t>Precision: 0.99899</a:t>
            </a:r>
          </a:p>
          <a:p>
            <a:r>
              <a:t>Recall: 0.99899</a:t>
            </a:r>
          </a:p>
          <a:p>
            <a:r>
              <a:t>F1 Score: 0.99899</a:t>
            </a:r>
          </a:p>
          <a:p>
            <a:r>
              <a:t>Observation: Highest performance.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Accuracy: 0.84648</a:t>
            </a:r>
          </a:p>
          <a:p>
            <a:r>
              <a:t>Precision: 0.84790</a:t>
            </a:r>
          </a:p>
          <a:p>
            <a:r>
              <a:t>Recall: 0.84648</a:t>
            </a:r>
          </a:p>
          <a:p>
            <a:r>
              <a:t>F1 Score: 0.84703.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Naive Bayes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Accuracy: 0.63033</a:t>
            </a:r>
          </a:p>
          <a:p>
            <a:r>
              <a:t>Precision: 0.39731</a:t>
            </a:r>
          </a:p>
          <a:p>
            <a:r>
              <a:t>Recall: 0.63033</a:t>
            </a:r>
          </a:p>
          <a:p>
            <a:r>
              <a:t>F1 Score: 0.48740.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</a:pPr>
            <a:r>
              <a:t>• Feature generation improved detection capability</a:t>
            </a:r>
          </a:p>
          <a:p>
            <a:pPr marL="114300" indent="0">
              <a:buNone/>
            </a:pPr>
            <a:r>
              <a:t>• Feature selection reduced noise</a:t>
            </a:r>
          </a:p>
          <a:p>
            <a:pPr marL="114300" indent="0">
              <a:buNone/>
            </a:pPr>
            <a:r>
              <a:t>• Hyperparameter tuning optimized models</a:t>
            </a:r>
          </a:p>
          <a:p>
            <a:r>
              <a:t>Random Forest </a:t>
            </a:r>
            <a:r>
              <a:rPr/>
              <a:t>achieved </a:t>
            </a:r>
            <a:r>
              <a:rPr lang="en-IN" smtClean="0"/>
              <a:t>~ </a:t>
            </a:r>
            <a:r>
              <a:rPr smtClean="0"/>
              <a:t>99.9</a:t>
            </a:r>
            <a:r>
              <a:t>% accuracy for impersonation attack detection.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11</TotalTime>
  <Words>645</Words>
  <Application>Microsoft Office PowerPoint</Application>
  <PresentationFormat>On-screen Show (4:3)</PresentationFormat>
  <Paragraphs>135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Adjacency</vt:lpstr>
      <vt:lpstr> Machine Learning Based Detection of Wi-Fi Impersonation Attacks</vt:lpstr>
      <vt:lpstr>Introduction</vt:lpstr>
      <vt:lpstr>Problem Statement</vt:lpstr>
      <vt:lpstr>Objectives</vt:lpstr>
      <vt:lpstr>Dataset</vt:lpstr>
      <vt:lpstr>Dataset Characteristics</vt:lpstr>
      <vt:lpstr>Project Workflow</vt:lpstr>
      <vt:lpstr>Data Preprocessing</vt:lpstr>
      <vt:lpstr>Feature Generation</vt:lpstr>
      <vt:lpstr>Variational Autoencoder (VAE)</vt:lpstr>
      <vt:lpstr>Generated Features</vt:lpstr>
      <vt:lpstr>Feature Selection</vt:lpstr>
      <vt:lpstr>Feature Selection Methods</vt:lpstr>
      <vt:lpstr>Selected Features</vt:lpstr>
      <vt:lpstr>Machine Learning Models</vt:lpstr>
      <vt:lpstr>Cross Validation</vt:lpstr>
      <vt:lpstr>Hyperparameter Tuning</vt:lpstr>
      <vt:lpstr>Hyperparameter Optimization Methods</vt:lpstr>
      <vt:lpstr>Evaluation Metrics</vt:lpstr>
      <vt:lpstr>Confusion Matrix</vt:lpstr>
      <vt:lpstr>Model Performance Comparison</vt:lpstr>
      <vt:lpstr>Random Forest Results</vt:lpstr>
      <vt:lpstr>KNN Results</vt:lpstr>
      <vt:lpstr>Naive Bayes Results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Based Detection of Wi-Fi Impersonation Attacks</dc:title>
  <dc:creator>pratham gupta</dc:creator>
  <dc:description>generated using python-pptx</dc:description>
  <cp:lastModifiedBy>pratham gupta</cp:lastModifiedBy>
  <cp:revision>3</cp:revision>
  <dcterms:created xsi:type="dcterms:W3CDTF">2013-01-27T09:14:16Z</dcterms:created>
  <dcterms:modified xsi:type="dcterms:W3CDTF">2026-03-11T19:11:23Z</dcterms:modified>
</cp:coreProperties>
</file>